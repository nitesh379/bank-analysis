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6"/>
  </p:notesMasterIdLst>
  <p:sldIdLst>
    <p:sldId id="266" r:id="rId5"/>
    <p:sldId id="309" r:id="rId6"/>
    <p:sldId id="311" r:id="rId7"/>
    <p:sldId id="310" r:id="rId8"/>
    <p:sldId id="312" r:id="rId9"/>
    <p:sldId id="313" r:id="rId10"/>
    <p:sldId id="314" r:id="rId11"/>
    <p:sldId id="315" r:id="rId12"/>
    <p:sldId id="316" r:id="rId13"/>
    <p:sldId id="317" r:id="rId14"/>
    <p:sldId id="31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6DCE26-60D3-4004-AE35-1080A35074C3}" type="datetimeFigureOut">
              <a:rPr lang="en-US" smtClean="0"/>
              <a:t>11/15/2025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C596F7-F7C1-4764-A1AB-FD8694D67438}" type="slidenum">
              <a:rPr lang="en-US" smtClean="0"/>
              <a:t>‹#›</a:t>
            </a:fld>
            <a:endParaRPr lang="en-US"/>
          </a:p>
        </p:txBody>
      </p:sp>
    </p:spTree>
    <p:extLst>
      <p:ext uri="{BB962C8B-B14F-4D97-AF65-F5344CB8AC3E}">
        <p14:creationId xmlns:p14="http://schemas.microsoft.com/office/powerpoint/2010/main" val="3350612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596F7-F7C1-4764-A1AB-FD8694D67438}" type="slidenum">
              <a:rPr lang="en-US" smtClean="0"/>
              <a:t>1</a:t>
            </a:fld>
            <a:endParaRPr lang="en-US"/>
          </a:p>
        </p:txBody>
      </p:sp>
    </p:spTree>
    <p:extLst>
      <p:ext uri="{BB962C8B-B14F-4D97-AF65-F5344CB8AC3E}">
        <p14:creationId xmlns:p14="http://schemas.microsoft.com/office/powerpoint/2010/main" val="19768646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596F7-F7C1-4764-A1AB-FD8694D67438}" type="slidenum">
              <a:rPr lang="en-US" smtClean="0"/>
              <a:t>7</a:t>
            </a:fld>
            <a:endParaRPr lang="en-US"/>
          </a:p>
        </p:txBody>
      </p:sp>
    </p:spTree>
    <p:extLst>
      <p:ext uri="{BB962C8B-B14F-4D97-AF65-F5344CB8AC3E}">
        <p14:creationId xmlns:p14="http://schemas.microsoft.com/office/powerpoint/2010/main" val="2866802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11/15/2025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87293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11/15/2025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38980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11/15/2025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2331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11/15/2025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57611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11/15/2025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2808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11/15/2025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01771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11/15/2025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0701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11/15/2025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01302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11/15/2025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58826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11/15/2025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0147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hemeOverride" Target="../theme/themeOverride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hemeOverride" Target="../theme/themeOverride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452A527-3631-41ED-858D-3777A7D14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peak Pro"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6730000" y="639097"/>
            <a:ext cx="4813072" cy="3494791"/>
          </a:xfrm>
        </p:spPr>
        <p:txBody>
          <a:bodyPr>
            <a:normAutofit/>
          </a:bodyPr>
          <a:lstStyle/>
          <a:p>
            <a:r>
              <a:rPr lang="en-US" dirty="0"/>
              <a:t>Bank </a:t>
            </a:r>
            <a:br>
              <a:rPr lang="en-US" dirty="0"/>
            </a:br>
            <a:r>
              <a:rPr lang="en-US" dirty="0"/>
              <a:t>Analytics</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6729999" y="4455621"/>
            <a:ext cx="4829101" cy="1238616"/>
          </a:xfrm>
        </p:spPr>
        <p:txBody>
          <a:bodyPr>
            <a:normAutofit/>
          </a:bodyPr>
          <a:lstStyle/>
          <a:p>
            <a:r>
              <a:rPr lang="en-US" b="1" dirty="0"/>
              <a:t>By :</a:t>
            </a:r>
            <a:br>
              <a:rPr lang="en-US" b="1" u="sng" dirty="0"/>
            </a:br>
            <a:r>
              <a:rPr lang="en-US" b="1" u="sng" dirty="0"/>
              <a:t>Nitesh yadav</a:t>
            </a:r>
          </a:p>
        </p:txBody>
      </p:sp>
      <p:pic>
        <p:nvPicPr>
          <p:cNvPr id="6" name="Picture 5">
            <a:extLst>
              <a:ext uri="{FF2B5EF4-FFF2-40B4-BE49-F238E27FC236}">
                <a16:creationId xmlns:a16="http://schemas.microsoft.com/office/drawing/2014/main" id="{8940CBE3-3F91-419A-A649-32AB388ECA8B}"/>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1" y="10"/>
            <a:ext cx="6096000" cy="6857990"/>
          </a:xfrm>
          <a:prstGeom prst="rect">
            <a:avLst/>
          </a:prstGeom>
        </p:spPr>
      </p:pic>
      <p:cxnSp>
        <p:nvCxnSpPr>
          <p:cNvPr id="26" name="Straight Connector 25">
            <a:extLst>
              <a:ext uri="{FF2B5EF4-FFF2-40B4-BE49-F238E27FC236}">
                <a16:creationId xmlns:a16="http://schemas.microsoft.com/office/drawing/2014/main" id="{D28A9C89-B313-458F-9C85-515930A51A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294754"/>
            <a:ext cx="43891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5915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196FC-4AE0-5302-AE61-B3F634910BB9}"/>
              </a:ext>
            </a:extLst>
          </p:cNvPr>
          <p:cNvSpPr>
            <a:spLocks noGrp="1"/>
          </p:cNvSpPr>
          <p:nvPr>
            <p:ph type="title"/>
          </p:nvPr>
        </p:nvSpPr>
        <p:spPr>
          <a:xfrm>
            <a:off x="1209368" y="737419"/>
            <a:ext cx="9778180" cy="796412"/>
          </a:xfrm>
        </p:spPr>
        <p:txBody>
          <a:bodyPr>
            <a:normAutofit/>
          </a:bodyPr>
          <a:lstStyle/>
          <a:p>
            <a:pPr algn="ctr"/>
            <a:r>
              <a:rPr lang="en-US" b="1" dirty="0">
                <a:solidFill>
                  <a:schemeClr val="accent5">
                    <a:lumMod val="75000"/>
                  </a:schemeClr>
                </a:solidFill>
                <a:latin typeface="Times New Roman" panose="02020603050405020304" pitchFamily="18" charset="0"/>
                <a:cs typeface="Times New Roman" panose="02020603050405020304" pitchFamily="18" charset="0"/>
              </a:rPr>
              <a:t>Introduction to Bank Analytics</a:t>
            </a:r>
          </a:p>
        </p:txBody>
      </p:sp>
      <p:sp>
        <p:nvSpPr>
          <p:cNvPr id="3" name="Title 1">
            <a:extLst>
              <a:ext uri="{FF2B5EF4-FFF2-40B4-BE49-F238E27FC236}">
                <a16:creationId xmlns:a16="http://schemas.microsoft.com/office/drawing/2014/main" id="{18E5BF41-712C-DDA8-E40D-23CF9CDCAE25}"/>
              </a:ext>
            </a:extLst>
          </p:cNvPr>
          <p:cNvSpPr txBox="1">
            <a:spLocks/>
          </p:cNvSpPr>
          <p:nvPr/>
        </p:nvSpPr>
        <p:spPr>
          <a:xfrm>
            <a:off x="250723" y="2138516"/>
            <a:ext cx="11769212" cy="398206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a:lstStyle>
          <a:p>
            <a:endParaRPr lang="en-US" b="1" dirty="0">
              <a:solidFill>
                <a:schemeClr val="accent5">
                  <a:lumMod val="75000"/>
                </a:schemeClr>
              </a:solidFill>
            </a:endParaRPr>
          </a:p>
        </p:txBody>
      </p:sp>
      <p:sp>
        <p:nvSpPr>
          <p:cNvPr id="4" name="Title 1">
            <a:extLst>
              <a:ext uri="{FF2B5EF4-FFF2-40B4-BE49-F238E27FC236}">
                <a16:creationId xmlns:a16="http://schemas.microsoft.com/office/drawing/2014/main" id="{19AF24D0-CF38-2C6C-C2F7-79368FAD51E0}"/>
              </a:ext>
            </a:extLst>
          </p:cNvPr>
          <p:cNvSpPr txBox="1">
            <a:spLocks/>
          </p:cNvSpPr>
          <p:nvPr/>
        </p:nvSpPr>
        <p:spPr>
          <a:xfrm>
            <a:off x="427703" y="1902542"/>
            <a:ext cx="11513573" cy="210901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a:lstStyle>
          <a:p>
            <a:pPr algn="just"/>
            <a:r>
              <a:rPr lang="en-US" sz="2200" dirty="0">
                <a:solidFill>
                  <a:schemeClr val="tx1"/>
                </a:solidFill>
                <a:latin typeface="Times New Roman" panose="02020603050405020304" pitchFamily="18" charset="0"/>
                <a:ea typeface="+mn-ea"/>
                <a:cs typeface="Times New Roman" panose="02020603050405020304" pitchFamily="18" charset="0"/>
              </a:rPr>
              <a:t>Bank Loan Analysis Dashboard is  designed to provide a visual and analytical breakdown of critical loan data. Each dashboard focuses on various aspects of loan management, including total loan amounts, revolving balances, and customer insights. They display key metrics like loan status (charged off, fully paid, current), home ownership types, and state-wise and year-wise distributions. The dashboards also offer a detailed view of loan grades, sub-grades, and payment verifications, providing valuable insights into loan performance, risk management, and regional trends.</a:t>
            </a:r>
          </a:p>
        </p:txBody>
      </p:sp>
    </p:spTree>
    <p:extLst>
      <p:ext uri="{BB962C8B-B14F-4D97-AF65-F5344CB8AC3E}">
        <p14:creationId xmlns:p14="http://schemas.microsoft.com/office/powerpoint/2010/main" val="776610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196FC-4AE0-5302-AE61-B3F634910BB9}"/>
              </a:ext>
            </a:extLst>
          </p:cNvPr>
          <p:cNvSpPr>
            <a:spLocks noGrp="1"/>
          </p:cNvSpPr>
          <p:nvPr>
            <p:ph type="title"/>
          </p:nvPr>
        </p:nvSpPr>
        <p:spPr>
          <a:xfrm>
            <a:off x="1209368" y="737419"/>
            <a:ext cx="9778180" cy="796412"/>
          </a:xfrm>
        </p:spPr>
        <p:txBody>
          <a:bodyPr>
            <a:normAutofit/>
          </a:bodyPr>
          <a:lstStyle/>
          <a:p>
            <a:pPr algn="ctr"/>
            <a:r>
              <a:rPr lang="en-US" b="1" dirty="0">
                <a:solidFill>
                  <a:schemeClr val="accent5">
                    <a:lumMod val="75000"/>
                  </a:schemeClr>
                </a:solidFill>
                <a:latin typeface="Times New Roman" panose="02020603050405020304" pitchFamily="18" charset="0"/>
                <a:cs typeface="Times New Roman" panose="02020603050405020304" pitchFamily="18" charset="0"/>
              </a:rPr>
              <a:t>Purpose</a:t>
            </a:r>
            <a:r>
              <a:rPr lang="en-US" b="1" dirty="0">
                <a:solidFill>
                  <a:schemeClr val="accent5">
                    <a:lumMod val="75000"/>
                  </a:schemeClr>
                </a:solidFill>
              </a:rPr>
              <a:t> </a:t>
            </a:r>
            <a:r>
              <a:rPr lang="en-US" b="1" dirty="0">
                <a:solidFill>
                  <a:schemeClr val="accent5">
                    <a:lumMod val="75000"/>
                  </a:schemeClr>
                </a:solidFill>
                <a:latin typeface="Times New Roman" panose="02020603050405020304" pitchFamily="18" charset="0"/>
                <a:cs typeface="Times New Roman" panose="02020603050405020304" pitchFamily="18" charset="0"/>
              </a:rPr>
              <a:t>of Project - Bank Analytics</a:t>
            </a:r>
          </a:p>
        </p:txBody>
      </p:sp>
      <p:sp>
        <p:nvSpPr>
          <p:cNvPr id="3" name="Title 1">
            <a:extLst>
              <a:ext uri="{FF2B5EF4-FFF2-40B4-BE49-F238E27FC236}">
                <a16:creationId xmlns:a16="http://schemas.microsoft.com/office/drawing/2014/main" id="{18E5BF41-712C-DDA8-E40D-23CF9CDCAE25}"/>
              </a:ext>
            </a:extLst>
          </p:cNvPr>
          <p:cNvSpPr txBox="1">
            <a:spLocks/>
          </p:cNvSpPr>
          <p:nvPr/>
        </p:nvSpPr>
        <p:spPr>
          <a:xfrm>
            <a:off x="250723" y="2138516"/>
            <a:ext cx="11769212" cy="398206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a:lstStyle>
          <a:p>
            <a:endParaRPr lang="en-US" b="1" dirty="0">
              <a:solidFill>
                <a:schemeClr val="accent5">
                  <a:lumMod val="75000"/>
                </a:schemeClr>
              </a:solidFill>
            </a:endParaRPr>
          </a:p>
        </p:txBody>
      </p:sp>
      <p:sp>
        <p:nvSpPr>
          <p:cNvPr id="8" name="TextBox 7">
            <a:extLst>
              <a:ext uri="{FF2B5EF4-FFF2-40B4-BE49-F238E27FC236}">
                <a16:creationId xmlns:a16="http://schemas.microsoft.com/office/drawing/2014/main" id="{A512726F-D72A-3B80-FB59-0FC6D830D334}"/>
              </a:ext>
            </a:extLst>
          </p:cNvPr>
          <p:cNvSpPr txBox="1"/>
          <p:nvPr/>
        </p:nvSpPr>
        <p:spPr>
          <a:xfrm>
            <a:off x="462116" y="1917290"/>
            <a:ext cx="11267768" cy="477053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The purpose of this dashboard is to provide an intuitive and visual representation of the bank's loan portfolio to help decision-makers:</a:t>
            </a:r>
          </a:p>
          <a:p>
            <a:endParaRPr lang="en-US" sz="22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2200" dirty="0">
                <a:latin typeface="Times New Roman" panose="02020603050405020304" pitchFamily="18" charset="0"/>
                <a:cs typeface="Times New Roman" panose="02020603050405020304" pitchFamily="18" charset="0"/>
              </a:rPr>
              <a:t>Evaluate Lending Performance: Review how the bank’s lending practices perform over time and identify areas for improvement. Make Data-Driven Decisions: Leverage insights from loan verification status, sub-grades, and default rates to make informed decisions on lending policies.</a:t>
            </a:r>
          </a:p>
          <a:p>
            <a:pPr marL="342900" indent="-342900">
              <a:buFont typeface="+mj-lt"/>
              <a:buAutoNum type="arabicPeriod"/>
            </a:pPr>
            <a:r>
              <a:rPr lang="en-US" sz="2200" dirty="0">
                <a:latin typeface="Times New Roman" panose="02020603050405020304" pitchFamily="18" charset="0"/>
                <a:cs typeface="Times New Roman" panose="02020603050405020304" pitchFamily="18" charset="0"/>
              </a:rPr>
              <a:t>Strategize for Risk Mitigation: Use geographic, sub-grade, and loan default data to refine risk management strategies and minimize losses from defaults.</a:t>
            </a:r>
          </a:p>
          <a:p>
            <a:pPr marL="342900" indent="-342900">
              <a:buFont typeface="+mj-lt"/>
              <a:buAutoNum type="arabicPeriod"/>
            </a:pPr>
            <a:r>
              <a:rPr lang="en-US" sz="2200" dirty="0">
                <a:latin typeface="Times New Roman" panose="02020603050405020304" pitchFamily="18" charset="0"/>
                <a:cs typeface="Times New Roman" panose="02020603050405020304" pitchFamily="18" charset="0"/>
              </a:rPr>
              <a:t>Enhance Customer Focus: Identify customer preferences for loan purposes and home ownership categories to tailor future offerings and enhance customer satisfaction.</a:t>
            </a:r>
          </a:p>
          <a:p>
            <a:pPr marL="342900" indent="-342900">
              <a:buFont typeface="+mj-lt"/>
              <a:buAutoNum type="arabicPeriod"/>
            </a:pPr>
            <a:r>
              <a:rPr lang="en-US" sz="2200" dirty="0">
                <a:latin typeface="Times New Roman" panose="02020603050405020304" pitchFamily="18" charset="0"/>
                <a:cs typeface="Times New Roman" panose="02020603050405020304" pitchFamily="18" charset="0"/>
              </a:rPr>
              <a:t>This dashboard serves as a strategic tool to monitor the bank's lending portfolio, improve risk management, and align with market trends.</a:t>
            </a:r>
            <a:br>
              <a:rPr lang="en-US" dirty="0"/>
            </a:br>
            <a:endParaRPr lang="en-US" dirty="0"/>
          </a:p>
        </p:txBody>
      </p:sp>
    </p:spTree>
    <p:extLst>
      <p:ext uri="{BB962C8B-B14F-4D97-AF65-F5344CB8AC3E}">
        <p14:creationId xmlns:p14="http://schemas.microsoft.com/office/powerpoint/2010/main" val="2682774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D234E6B-D979-7098-DA79-7DCE893F1EE2}"/>
              </a:ext>
            </a:extLst>
          </p:cNvPr>
          <p:cNvPicPr>
            <a:picLocks noChangeAspect="1"/>
          </p:cNvPicPr>
          <p:nvPr/>
        </p:nvPicPr>
        <p:blipFill>
          <a:blip r:embed="rId2"/>
          <a:stretch>
            <a:fillRect/>
          </a:stretch>
        </p:blipFill>
        <p:spPr>
          <a:xfrm>
            <a:off x="176981" y="943897"/>
            <a:ext cx="12015019" cy="5456903"/>
          </a:xfrm>
          <a:prstGeom prst="rect">
            <a:avLst/>
          </a:prstGeom>
        </p:spPr>
      </p:pic>
      <p:sp>
        <p:nvSpPr>
          <p:cNvPr id="5" name="Title 1">
            <a:extLst>
              <a:ext uri="{FF2B5EF4-FFF2-40B4-BE49-F238E27FC236}">
                <a16:creationId xmlns:a16="http://schemas.microsoft.com/office/drawing/2014/main" id="{7766AC22-3EAD-B961-12DD-C5C3029EEF57}"/>
              </a:ext>
            </a:extLst>
          </p:cNvPr>
          <p:cNvSpPr txBox="1">
            <a:spLocks/>
          </p:cNvSpPr>
          <p:nvPr/>
        </p:nvSpPr>
        <p:spPr>
          <a:xfrm>
            <a:off x="1172496" y="280219"/>
            <a:ext cx="9778180" cy="663678"/>
          </a:xfrm>
          <a:prstGeom prst="rect">
            <a:avLst/>
          </a:prstGeom>
        </p:spPr>
        <p:txBody>
          <a:bodyPr>
            <a:normAutofit fontScale="92500" lnSpcReduction="10000"/>
          </a:bodyPr>
          <a:lst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a:lstStyle>
          <a:p>
            <a:pPr algn="ctr"/>
            <a:r>
              <a:rPr lang="en-US" sz="5000" b="1" dirty="0">
                <a:solidFill>
                  <a:schemeClr val="accent5">
                    <a:lumMod val="75000"/>
                  </a:schemeClr>
                </a:solidFill>
                <a:latin typeface="Times New Roman" panose="02020603050405020304" pitchFamily="18" charset="0"/>
                <a:cs typeface="Times New Roman" panose="02020603050405020304" pitchFamily="18" charset="0"/>
              </a:rPr>
              <a:t>Excel</a:t>
            </a:r>
            <a:r>
              <a:rPr lang="en-US" b="1" dirty="0">
                <a:solidFill>
                  <a:schemeClr val="accent5">
                    <a:lumMod val="75000"/>
                  </a:schemeClr>
                </a:solidFill>
              </a:rPr>
              <a:t> </a:t>
            </a:r>
            <a:r>
              <a:rPr lang="en-US" sz="5000" b="1" dirty="0">
                <a:solidFill>
                  <a:schemeClr val="accent5">
                    <a:lumMod val="75000"/>
                  </a:schemeClr>
                </a:solidFill>
                <a:latin typeface="Times New Roman" panose="02020603050405020304" pitchFamily="18" charset="0"/>
                <a:cs typeface="Times New Roman" panose="02020603050405020304" pitchFamily="18" charset="0"/>
              </a:rPr>
              <a:t>Dashboard</a:t>
            </a:r>
          </a:p>
        </p:txBody>
      </p:sp>
    </p:spTree>
    <p:extLst>
      <p:ext uri="{BB962C8B-B14F-4D97-AF65-F5344CB8AC3E}">
        <p14:creationId xmlns:p14="http://schemas.microsoft.com/office/powerpoint/2010/main" val="2182400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51B704D-A9F8-EE81-31FC-1911CD83E100}"/>
              </a:ext>
            </a:extLst>
          </p:cNvPr>
          <p:cNvPicPr>
            <a:picLocks noChangeAspect="1"/>
          </p:cNvPicPr>
          <p:nvPr/>
        </p:nvPicPr>
        <p:blipFill>
          <a:blip r:embed="rId3"/>
          <a:stretch>
            <a:fillRect/>
          </a:stretch>
        </p:blipFill>
        <p:spPr>
          <a:xfrm>
            <a:off x="206477" y="943897"/>
            <a:ext cx="11710219" cy="5397909"/>
          </a:xfrm>
          <a:prstGeom prst="rect">
            <a:avLst/>
          </a:prstGeom>
        </p:spPr>
      </p:pic>
      <p:sp>
        <p:nvSpPr>
          <p:cNvPr id="4" name="Title 1">
            <a:extLst>
              <a:ext uri="{FF2B5EF4-FFF2-40B4-BE49-F238E27FC236}">
                <a16:creationId xmlns:a16="http://schemas.microsoft.com/office/drawing/2014/main" id="{7E9D82FC-7CED-EE06-5B1C-6154C11EFFAA}"/>
              </a:ext>
            </a:extLst>
          </p:cNvPr>
          <p:cNvSpPr txBox="1">
            <a:spLocks/>
          </p:cNvSpPr>
          <p:nvPr/>
        </p:nvSpPr>
        <p:spPr>
          <a:xfrm>
            <a:off x="1172496" y="280219"/>
            <a:ext cx="9778180" cy="663678"/>
          </a:xfrm>
          <a:prstGeom prst="rect">
            <a:avLst/>
          </a:prstGeom>
        </p:spPr>
        <p:txBody>
          <a:bodyPr>
            <a:normAutofit fontScale="92500" lnSpcReduction="10000"/>
          </a:bodyPr>
          <a:lst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a:lstStyle>
          <a:p>
            <a:pPr algn="ctr"/>
            <a:r>
              <a:rPr lang="en-US" sz="5000" b="1" dirty="0">
                <a:solidFill>
                  <a:schemeClr val="accent5">
                    <a:lumMod val="75000"/>
                  </a:schemeClr>
                </a:solidFill>
                <a:latin typeface="Times New Roman" panose="02020603050405020304" pitchFamily="18" charset="0"/>
                <a:cs typeface="Times New Roman" panose="02020603050405020304" pitchFamily="18" charset="0"/>
              </a:rPr>
              <a:t>Power-BI</a:t>
            </a:r>
            <a:r>
              <a:rPr lang="en-US" b="1" dirty="0">
                <a:solidFill>
                  <a:schemeClr val="accent5">
                    <a:lumMod val="75000"/>
                  </a:schemeClr>
                </a:solidFill>
              </a:rPr>
              <a:t> </a:t>
            </a:r>
            <a:r>
              <a:rPr lang="en-US" sz="5000" b="1" dirty="0">
                <a:solidFill>
                  <a:schemeClr val="accent5">
                    <a:lumMod val="75000"/>
                  </a:schemeClr>
                </a:solidFill>
                <a:latin typeface="Times New Roman" panose="02020603050405020304" pitchFamily="18" charset="0"/>
                <a:cs typeface="Times New Roman" panose="02020603050405020304" pitchFamily="18" charset="0"/>
              </a:rPr>
              <a:t>Dashboard</a:t>
            </a:r>
          </a:p>
        </p:txBody>
      </p:sp>
    </p:spTree>
    <p:extLst>
      <p:ext uri="{BB962C8B-B14F-4D97-AF65-F5344CB8AC3E}">
        <p14:creationId xmlns:p14="http://schemas.microsoft.com/office/powerpoint/2010/main" val="4210567308"/>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4B7FE2-4F47-161E-60C9-C6CA6AF9349B}"/>
              </a:ext>
            </a:extLst>
          </p:cNvPr>
          <p:cNvPicPr>
            <a:picLocks noChangeAspect="1"/>
          </p:cNvPicPr>
          <p:nvPr/>
        </p:nvPicPr>
        <p:blipFill>
          <a:blip r:embed="rId3"/>
          <a:stretch>
            <a:fillRect/>
          </a:stretch>
        </p:blipFill>
        <p:spPr>
          <a:xfrm>
            <a:off x="119910" y="840659"/>
            <a:ext cx="11885277" cy="5442154"/>
          </a:xfrm>
          <a:prstGeom prst="rect">
            <a:avLst/>
          </a:prstGeom>
        </p:spPr>
      </p:pic>
      <p:sp>
        <p:nvSpPr>
          <p:cNvPr id="4" name="Title 1">
            <a:extLst>
              <a:ext uri="{FF2B5EF4-FFF2-40B4-BE49-F238E27FC236}">
                <a16:creationId xmlns:a16="http://schemas.microsoft.com/office/drawing/2014/main" id="{951D9EA0-A49A-4796-87D6-20BEECB3FDC1}"/>
              </a:ext>
            </a:extLst>
          </p:cNvPr>
          <p:cNvSpPr txBox="1">
            <a:spLocks/>
          </p:cNvSpPr>
          <p:nvPr/>
        </p:nvSpPr>
        <p:spPr>
          <a:xfrm>
            <a:off x="1172496" y="280219"/>
            <a:ext cx="9778180" cy="560439"/>
          </a:xfrm>
          <a:prstGeom prst="rect">
            <a:avLst/>
          </a:prstGeom>
        </p:spPr>
        <p:txBody>
          <a:bodyPr>
            <a:noAutofit/>
          </a:bodyPr>
          <a:lst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a:lstStyle>
          <a:p>
            <a:pPr algn="ctr"/>
            <a:r>
              <a:rPr lang="en-US" sz="4200" b="1" dirty="0">
                <a:solidFill>
                  <a:schemeClr val="accent5">
                    <a:lumMod val="75000"/>
                  </a:schemeClr>
                </a:solidFill>
                <a:latin typeface="Times New Roman" panose="02020603050405020304" pitchFamily="18" charset="0"/>
                <a:cs typeface="Times New Roman" panose="02020603050405020304" pitchFamily="18" charset="0"/>
              </a:rPr>
              <a:t>Tableau Dashboard</a:t>
            </a:r>
          </a:p>
        </p:txBody>
      </p:sp>
    </p:spTree>
    <p:extLst>
      <p:ext uri="{BB962C8B-B14F-4D97-AF65-F5344CB8AC3E}">
        <p14:creationId xmlns:p14="http://schemas.microsoft.com/office/powerpoint/2010/main" val="366038279"/>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1FA0C24-3D19-6791-E134-0A27AAF1C7E8}"/>
              </a:ext>
            </a:extLst>
          </p:cNvPr>
          <p:cNvSpPr txBox="1">
            <a:spLocks/>
          </p:cNvSpPr>
          <p:nvPr/>
        </p:nvSpPr>
        <p:spPr>
          <a:xfrm>
            <a:off x="1172496" y="280219"/>
            <a:ext cx="9778180" cy="560439"/>
          </a:xfrm>
          <a:prstGeom prst="rect">
            <a:avLst/>
          </a:prstGeom>
        </p:spPr>
        <p:txBody>
          <a:bodyPr>
            <a:normAutofit fontScale="77500" lnSpcReduction="20000"/>
          </a:bodyPr>
          <a:lst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a:lstStyle>
          <a:p>
            <a:pPr algn="ctr">
              <a:lnSpc>
                <a:spcPct val="110000"/>
              </a:lnSpc>
            </a:pPr>
            <a:r>
              <a:rPr lang="en-US" sz="4200" b="1" dirty="0">
                <a:solidFill>
                  <a:schemeClr val="accent5">
                    <a:lumMod val="75000"/>
                  </a:schemeClr>
                </a:solidFill>
                <a:latin typeface="Times New Roman" panose="02020603050405020304" pitchFamily="18" charset="0"/>
                <a:cs typeface="Times New Roman" panose="02020603050405020304" pitchFamily="18" charset="0"/>
              </a:rPr>
              <a:t>SQL Queries</a:t>
            </a:r>
          </a:p>
        </p:txBody>
      </p:sp>
      <p:sp>
        <p:nvSpPr>
          <p:cNvPr id="8" name="AutoShape 2">
            <a:extLst>
              <a:ext uri="{FF2B5EF4-FFF2-40B4-BE49-F238E27FC236}">
                <a16:creationId xmlns:a16="http://schemas.microsoft.com/office/drawing/2014/main" id="{154BADCD-ACD6-6AB1-3BEE-CBB6CC407276}"/>
              </a:ext>
            </a:extLst>
          </p:cNvPr>
          <p:cNvSpPr>
            <a:spLocks noChangeAspect="1" noChangeArrowheads="1"/>
          </p:cNvSpPr>
          <p:nvPr/>
        </p:nvSpPr>
        <p:spPr bwMode="auto">
          <a:xfrm>
            <a:off x="3185652" y="2126226"/>
            <a:ext cx="4041058" cy="404105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3337692A-9719-5509-65EF-7EF9B3B7E7B8}"/>
              </a:ext>
            </a:extLst>
          </p:cNvPr>
          <p:cNvPicPr>
            <a:picLocks noChangeAspect="1"/>
          </p:cNvPicPr>
          <p:nvPr/>
        </p:nvPicPr>
        <p:blipFill>
          <a:blip r:embed="rId3"/>
          <a:stretch>
            <a:fillRect/>
          </a:stretch>
        </p:blipFill>
        <p:spPr>
          <a:xfrm>
            <a:off x="78812" y="840657"/>
            <a:ext cx="6017188" cy="5515897"/>
          </a:xfrm>
          <a:prstGeom prst="rect">
            <a:avLst/>
          </a:prstGeom>
        </p:spPr>
      </p:pic>
      <p:pic>
        <p:nvPicPr>
          <p:cNvPr id="12" name="Picture 11">
            <a:extLst>
              <a:ext uri="{FF2B5EF4-FFF2-40B4-BE49-F238E27FC236}">
                <a16:creationId xmlns:a16="http://schemas.microsoft.com/office/drawing/2014/main" id="{392B5B50-9CED-D835-046F-D83793E1D779}"/>
              </a:ext>
            </a:extLst>
          </p:cNvPr>
          <p:cNvPicPr>
            <a:picLocks noChangeAspect="1"/>
          </p:cNvPicPr>
          <p:nvPr/>
        </p:nvPicPr>
        <p:blipFill>
          <a:blip r:embed="rId4"/>
          <a:stretch>
            <a:fillRect/>
          </a:stretch>
        </p:blipFill>
        <p:spPr>
          <a:xfrm>
            <a:off x="6096000" y="840656"/>
            <a:ext cx="5948360" cy="5515896"/>
          </a:xfrm>
          <a:prstGeom prst="rect">
            <a:avLst/>
          </a:prstGeom>
        </p:spPr>
      </p:pic>
    </p:spTree>
    <p:extLst>
      <p:ext uri="{BB962C8B-B14F-4D97-AF65-F5344CB8AC3E}">
        <p14:creationId xmlns:p14="http://schemas.microsoft.com/office/powerpoint/2010/main" val="9545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FD0B3-7F00-06A0-09DB-D3C58B9E69FF}"/>
              </a:ext>
            </a:extLst>
          </p:cNvPr>
          <p:cNvSpPr txBox="1">
            <a:spLocks/>
          </p:cNvSpPr>
          <p:nvPr/>
        </p:nvSpPr>
        <p:spPr>
          <a:xfrm>
            <a:off x="1172496" y="280219"/>
            <a:ext cx="9778180" cy="560439"/>
          </a:xfrm>
          <a:prstGeom prst="rect">
            <a:avLst/>
          </a:prstGeom>
        </p:spPr>
        <p:txBody>
          <a:bodyPr>
            <a:noAutofit/>
          </a:bodyPr>
          <a:lst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a:lstStyle>
          <a:p>
            <a:pPr algn="ctr">
              <a:lnSpc>
                <a:spcPct val="110000"/>
              </a:lnSpc>
            </a:pPr>
            <a:r>
              <a:rPr lang="en-US" sz="4200" b="1" dirty="0">
                <a:solidFill>
                  <a:schemeClr val="accent5">
                    <a:lumMod val="75000"/>
                  </a:schemeClr>
                </a:solidFill>
                <a:latin typeface="Times New Roman" panose="02020603050405020304" pitchFamily="18" charset="0"/>
                <a:cs typeface="Times New Roman" panose="02020603050405020304" pitchFamily="18" charset="0"/>
              </a:rPr>
              <a:t>Objective of Dashboard</a:t>
            </a:r>
          </a:p>
        </p:txBody>
      </p:sp>
      <p:sp>
        <p:nvSpPr>
          <p:cNvPr id="3" name="TextBox 2">
            <a:extLst>
              <a:ext uri="{FF2B5EF4-FFF2-40B4-BE49-F238E27FC236}">
                <a16:creationId xmlns:a16="http://schemas.microsoft.com/office/drawing/2014/main" id="{2DF2E118-EDF2-172E-EFB1-A5FBF66F7C3B}"/>
              </a:ext>
            </a:extLst>
          </p:cNvPr>
          <p:cNvSpPr txBox="1"/>
          <p:nvPr/>
        </p:nvSpPr>
        <p:spPr>
          <a:xfrm>
            <a:off x="159774" y="988142"/>
            <a:ext cx="11872451" cy="3816429"/>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The primary objective of this dashboard is to provide a comprehensive analysis of the bank's loan portfolio. It helps stakeholders understand key loan trends, customer preferences, and financial performance metrics. The dashboard facilitates:</a:t>
            </a:r>
            <a:br>
              <a:rPr lang="en-US" sz="2200" dirty="0">
                <a:latin typeface="Times New Roman" panose="02020603050405020304" pitchFamily="18" charset="0"/>
                <a:cs typeface="Times New Roman" panose="02020603050405020304" pitchFamily="18" charset="0"/>
              </a:rPr>
            </a:br>
            <a:br>
              <a:rPr lang="en-US" sz="2200" dirty="0">
                <a:latin typeface="Times New Roman" panose="02020603050405020304" pitchFamily="18" charset="0"/>
                <a:cs typeface="Times New Roman" panose="02020603050405020304" pitchFamily="18" charset="0"/>
              </a:rPr>
            </a:br>
            <a:endParaRPr lang="en-US"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Analyzing Loan Distributions: Showcasing loan amounts by year, type, purpose, and home ownership .</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Identifying Risk Factors: Highlighting loan defaults, verification status, and sub-grade performance to assess risk exposure. </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Monitoring Performance: Offering insights into completion rates, geographic trends, and monthly loan application patterns to track overall bank lending activity</a:t>
            </a:r>
          </a:p>
        </p:txBody>
      </p:sp>
    </p:spTree>
    <p:extLst>
      <p:ext uri="{BB962C8B-B14F-4D97-AF65-F5344CB8AC3E}">
        <p14:creationId xmlns:p14="http://schemas.microsoft.com/office/powerpoint/2010/main" val="512757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FD0B3-7F00-06A0-09DB-D3C58B9E69FF}"/>
              </a:ext>
            </a:extLst>
          </p:cNvPr>
          <p:cNvSpPr txBox="1">
            <a:spLocks/>
          </p:cNvSpPr>
          <p:nvPr/>
        </p:nvSpPr>
        <p:spPr>
          <a:xfrm>
            <a:off x="1172496" y="280219"/>
            <a:ext cx="9778180" cy="560439"/>
          </a:xfrm>
          <a:prstGeom prst="rect">
            <a:avLst/>
          </a:prstGeom>
        </p:spPr>
        <p:txBody>
          <a:bodyPr>
            <a:noAutofit/>
          </a:bodyPr>
          <a:lst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a:lstStyle>
          <a:p>
            <a:pPr algn="ctr">
              <a:lnSpc>
                <a:spcPct val="110000"/>
              </a:lnSpc>
            </a:pPr>
            <a:r>
              <a:rPr lang="en-US" sz="4200" b="1" dirty="0">
                <a:solidFill>
                  <a:schemeClr val="accent5">
                    <a:lumMod val="75000"/>
                  </a:schemeClr>
                </a:solidFill>
                <a:latin typeface="Times New Roman" panose="02020603050405020304" pitchFamily="18" charset="0"/>
                <a:cs typeface="Times New Roman" panose="02020603050405020304" pitchFamily="18" charset="0"/>
              </a:rPr>
              <a:t>Dashboard Explanation</a:t>
            </a:r>
          </a:p>
        </p:txBody>
      </p:sp>
      <p:sp>
        <p:nvSpPr>
          <p:cNvPr id="3" name="TextBox 2">
            <a:extLst>
              <a:ext uri="{FF2B5EF4-FFF2-40B4-BE49-F238E27FC236}">
                <a16:creationId xmlns:a16="http://schemas.microsoft.com/office/drawing/2014/main" id="{2DF2E118-EDF2-172E-EFB1-A5FBF66F7C3B}"/>
              </a:ext>
            </a:extLst>
          </p:cNvPr>
          <p:cNvSpPr txBox="1"/>
          <p:nvPr/>
        </p:nvSpPr>
        <p:spPr>
          <a:xfrm>
            <a:off x="159774" y="943897"/>
            <a:ext cx="11872451" cy="5509200"/>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Loan Overview: Our report analyzes over 40K loan applications, with a total funded amount of 435M and total payment of 482.7M.</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Verification Status: 22.64% of loan amounts are verified through different sources, showing the significance of thorough verification processes.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Home Ownership and Loan Amount: Mortgages constitute the highest loan amount (224M), compared to rentals (189M), indicating a preference for real estate-related loans.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Loan Applications by Year: Loan amounts peaked at 104M in 2012, with notable fluctuations across years.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Loan Purpose Trends: Debt consolidation stands as the most common purpose (18.6K applications), followed by credit card and home improvement loans.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Loan Completion: The completion rate is 85.83%, showcasing the bank's success in lending responsibly.</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Loan Defaults: The default rate is 14.17%, with 6K defaulters and a total defaulted funded amount of 66M.</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Geographic Insights: Most loan applications originate from specific states, with visual representation highlighting hotspots across the country.</a:t>
            </a:r>
          </a:p>
        </p:txBody>
      </p:sp>
    </p:spTree>
    <p:extLst>
      <p:ext uri="{BB962C8B-B14F-4D97-AF65-F5344CB8AC3E}">
        <p14:creationId xmlns:p14="http://schemas.microsoft.com/office/powerpoint/2010/main" val="3989393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F2E118-EDF2-172E-EFB1-A5FBF66F7C3B}"/>
              </a:ext>
            </a:extLst>
          </p:cNvPr>
          <p:cNvSpPr txBox="1"/>
          <p:nvPr/>
        </p:nvSpPr>
        <p:spPr>
          <a:xfrm>
            <a:off x="159774" y="840658"/>
            <a:ext cx="11872451" cy="1785104"/>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Monthly Trends: Applications decrease gradually over the year, with the highest numbers seen in early months like January and February.</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Sub-grade Analysis: Detailed analysis of loan sub-grades shows significant trends in loan amounts and funded balances for grades “A to D”</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These insights help provide a clear picture of lending trends, customer preferences, and default risks.</a:t>
            </a:r>
          </a:p>
        </p:txBody>
      </p:sp>
    </p:spTree>
    <p:extLst>
      <p:ext uri="{BB962C8B-B14F-4D97-AF65-F5344CB8AC3E}">
        <p14:creationId xmlns:p14="http://schemas.microsoft.com/office/powerpoint/2010/main" val="3328273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FD0B3-7F00-06A0-09DB-D3C58B9E69FF}"/>
              </a:ext>
            </a:extLst>
          </p:cNvPr>
          <p:cNvSpPr txBox="1">
            <a:spLocks/>
          </p:cNvSpPr>
          <p:nvPr/>
        </p:nvSpPr>
        <p:spPr>
          <a:xfrm>
            <a:off x="1172496" y="280219"/>
            <a:ext cx="9778180" cy="560439"/>
          </a:xfrm>
          <a:prstGeom prst="rect">
            <a:avLst/>
          </a:prstGeom>
        </p:spPr>
        <p:txBody>
          <a:bodyPr>
            <a:noAutofit/>
          </a:bodyPr>
          <a:lst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a:lstStyle>
          <a:p>
            <a:pPr algn="ctr">
              <a:lnSpc>
                <a:spcPct val="130000"/>
              </a:lnSpc>
            </a:pPr>
            <a:r>
              <a:rPr lang="en-US" sz="4200" b="1" dirty="0">
                <a:solidFill>
                  <a:schemeClr val="accent5">
                    <a:lumMod val="75000"/>
                  </a:schemeClr>
                </a:solidFill>
                <a:latin typeface="Times New Roman" panose="02020603050405020304" pitchFamily="18" charset="0"/>
                <a:cs typeface="Times New Roman" panose="02020603050405020304" pitchFamily="18" charset="0"/>
              </a:rPr>
              <a:t>Conclusion of Bank Analysis</a:t>
            </a:r>
          </a:p>
        </p:txBody>
      </p:sp>
      <p:sp>
        <p:nvSpPr>
          <p:cNvPr id="3" name="TextBox 2">
            <a:extLst>
              <a:ext uri="{FF2B5EF4-FFF2-40B4-BE49-F238E27FC236}">
                <a16:creationId xmlns:a16="http://schemas.microsoft.com/office/drawing/2014/main" id="{2DF2E118-EDF2-172E-EFB1-A5FBF66F7C3B}"/>
              </a:ext>
            </a:extLst>
          </p:cNvPr>
          <p:cNvSpPr txBox="1"/>
          <p:nvPr/>
        </p:nvSpPr>
        <p:spPr>
          <a:xfrm>
            <a:off x="159774" y="1091381"/>
            <a:ext cx="11872451" cy="3816429"/>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The insights derived from the dashboard demonstrate clear trends in the bank’s loan operations:</a:t>
            </a:r>
          </a:p>
          <a:p>
            <a:endParaRPr lang="en-US"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High Loan Demand for Real Estate and Debt Consolidation: Mortgage loans and debt consolidation dominate the loan distribution, indicating customer preferences.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Steady Completion Rates: With a completion rate of 85.83%, the bank's responsible lending practices are evident.</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Risk from Defaults: The 14.17% default rate represents a notable risk factor, especially with 66M defaulted loans, signaling the need for better risk management strategies.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Yearly Fluctuations and Monthly Trends: Loan applications vary significantly over the years, peaking in 2012, and show seasonal decreases throughout the year, which may require targeted marketing efforts during low-application months.</a:t>
            </a:r>
          </a:p>
        </p:txBody>
      </p:sp>
    </p:spTree>
    <p:extLst>
      <p:ext uri="{BB962C8B-B14F-4D97-AF65-F5344CB8AC3E}">
        <p14:creationId xmlns:p14="http://schemas.microsoft.com/office/powerpoint/2010/main" val="3029081680"/>
      </p:ext>
    </p:extLst>
  </p:cSld>
  <p:clrMapOvr>
    <a:masterClrMapping/>
  </p:clrMapOvr>
</p:sld>
</file>

<file path=ppt/theme/theme1.xml><?xml version="1.0" encoding="utf-8"?>
<a:theme xmlns:a="http://schemas.openxmlformats.org/drawingml/2006/main" name="RetrospectVTI">
  <a:themeElements>
    <a:clrScheme name="">
      <a:dk1>
        <a:srgbClr val="000000"/>
      </a:dk1>
      <a:lt1>
        <a:srgbClr val="FFFFFF"/>
      </a:lt1>
      <a:dk2>
        <a:srgbClr val="243541"/>
      </a:dk2>
      <a:lt2>
        <a:srgbClr val="E2E5E8"/>
      </a:lt2>
      <a:accent1>
        <a:srgbClr val="E88B33"/>
      </a:accent1>
      <a:accent2>
        <a:srgbClr val="AEA33A"/>
      </a:accent2>
      <a:accent3>
        <a:srgbClr val="8CAB4A"/>
      </a:accent3>
      <a:accent4>
        <a:srgbClr val="57B636"/>
      </a:accent4>
      <a:accent5>
        <a:srgbClr val="2EBA43"/>
      </a:accent5>
      <a:accent6>
        <a:srgbClr val="33B67D"/>
      </a:accent6>
      <a:hlink>
        <a:srgbClr val="5F84A8"/>
      </a:hlink>
      <a:folHlink>
        <a:srgbClr val="7F7F7F"/>
      </a:folHlink>
    </a:clrScheme>
    <a:fontScheme name="Retrospect">
      <a:majorFont>
        <a:latin typeface="Georgia Pro Cond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peak Pr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ppt/theme/themeOverride2.xml><?xml version="1.0" encoding="utf-8"?>
<a:themeOverride xmlns:a="http://schemas.openxmlformats.org/drawingml/2006/main">
  <a:clrScheme name="">
    <a:dk1>
      <a:srgbClr val="000000"/>
    </a:dk1>
    <a:lt1>
      <a:srgbClr val="FFFFFF"/>
    </a:lt1>
    <a:dk2>
      <a:srgbClr val="243541"/>
    </a:dk2>
    <a:lt2>
      <a:srgbClr val="E2E5E8"/>
    </a:lt2>
    <a:accent1>
      <a:srgbClr val="E88B33"/>
    </a:accent1>
    <a:accent2>
      <a:srgbClr val="AEA33A"/>
    </a:accent2>
    <a:accent3>
      <a:srgbClr val="8CAB4A"/>
    </a:accent3>
    <a:accent4>
      <a:srgbClr val="57B636"/>
    </a:accent4>
    <a:accent5>
      <a:srgbClr val="2EBA43"/>
    </a:accent5>
    <a:accent6>
      <a:srgbClr val="33B67D"/>
    </a:accent6>
    <a:hlink>
      <a:srgbClr val="5F84A8"/>
    </a:hlink>
    <a:folHlink>
      <a:srgbClr val="7F7F7F"/>
    </a:folHlink>
  </a:clrScheme>
</a:themeOverride>
</file>

<file path=ppt/theme/themeOverride3.xml><?xml version="1.0" encoding="utf-8"?>
<a:themeOverride xmlns:a="http://schemas.openxmlformats.org/drawingml/2006/main">
  <a:clrScheme name="">
    <a:dk1>
      <a:srgbClr val="000000"/>
    </a:dk1>
    <a:lt1>
      <a:srgbClr val="FFFFFF"/>
    </a:lt1>
    <a:dk2>
      <a:srgbClr val="243541"/>
    </a:dk2>
    <a:lt2>
      <a:srgbClr val="E2E5E8"/>
    </a:lt2>
    <a:accent1>
      <a:srgbClr val="E88B33"/>
    </a:accent1>
    <a:accent2>
      <a:srgbClr val="AEA33A"/>
    </a:accent2>
    <a:accent3>
      <a:srgbClr val="8CAB4A"/>
    </a:accent3>
    <a:accent4>
      <a:srgbClr val="57B636"/>
    </a:accent4>
    <a:accent5>
      <a:srgbClr val="2EBA43"/>
    </a:accent5>
    <a:accent6>
      <a:srgbClr val="33B67D"/>
    </a:accent6>
    <a:hlink>
      <a:srgbClr val="5F84A8"/>
    </a:hlink>
    <a:folHlink>
      <a:srgbClr val="7F7F7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31F006B4-A9E1-4F39-85C8-FB836F919348}">
  <ds:schemaRefs>
    <ds:schemaRef ds:uri="http://schemas.microsoft.com/sharepoint/v3/contenttype/forms"/>
  </ds:schemaRefs>
</ds:datastoreItem>
</file>

<file path=customXml/itemProps2.xml><?xml version="1.0" encoding="utf-8"?>
<ds:datastoreItem xmlns:ds="http://schemas.openxmlformats.org/officeDocument/2006/customXml" ds:itemID="{16377351-63A1-4C2E-8C9A-66CDD70F16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F3CD65D-61A5-43C9-A837-6EC73C7DA8A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
  <TotalTime>81</TotalTime>
  <Words>747</Words>
  <Application>Microsoft Office PowerPoint</Application>
  <PresentationFormat>Widescreen</PresentationFormat>
  <Paragraphs>41</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Georgia Pro Cond Light</vt:lpstr>
      <vt:lpstr>Speak Pro</vt:lpstr>
      <vt:lpstr>Times New Roman</vt:lpstr>
      <vt:lpstr>RetrospectVTI</vt:lpstr>
      <vt:lpstr>Bank  Analytics</vt:lpstr>
      <vt:lpstr>Introduction to Bank Analytics</vt:lpstr>
      <vt:lpstr>Purpose of Project - Bank Analytics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nitesh yadav</cp:lastModifiedBy>
  <cp:revision>4</cp:revision>
  <dcterms:created xsi:type="dcterms:W3CDTF">2024-10-22T17:43:36Z</dcterms:created>
  <dcterms:modified xsi:type="dcterms:W3CDTF">2025-11-15T08:08:24Z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